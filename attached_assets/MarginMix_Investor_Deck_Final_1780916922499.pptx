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69" r:id="rId4"/>
    <p:sldId id="274" r:id="rId5"/>
    <p:sldId id="267" r:id="rId6"/>
    <p:sldId id="258" r:id="rId7"/>
    <p:sldId id="259" r:id="rId8"/>
    <p:sldId id="276" r:id="rId9"/>
    <p:sldId id="260" r:id="rId10"/>
    <p:sldId id="261" r:id="rId11"/>
    <p:sldId id="262" r:id="rId12"/>
    <p:sldId id="263" r:id="rId13"/>
    <p:sldId id="264" r:id="rId14"/>
    <p:sldId id="265" r:id="rId15"/>
    <p:sldId id="271" r:id="rId16"/>
    <p:sldId id="275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5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9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41C6-6E78-F529-DB05-A06F4868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2DFF9-079E-CAA7-7A62-E2A2A2F92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E9E34-591F-64CD-69C7-A39CC0031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884B9-D2A7-5940-0EA7-78CA23792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120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sid@marginmix.ai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64008" cy="100584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594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Deterministic Margin &amp; Pricing Decision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Professional Services, Agencies and Consulting Firms 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212080" cy="640080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502920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margin risk decisions — made before delivery begins,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cost of being wrong is highest.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731520"/>
            <a:ext cx="2834640" cy="1188720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26480" y="731520"/>
            <a:ext cx="54864" cy="118872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932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76656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70"/>
                </a:solidFill>
                <a:latin typeface="Calibri" pitchFamily="34" charset="0"/>
                <a:cs typeface="Calibri" pitchFamily="34" charset="-120"/>
              </a:rPr>
              <a:t>Ai assisted; Proprietary rules 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26480" y="2061972"/>
            <a:ext cx="2834640" cy="1188720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6135309" y="2103120"/>
            <a:ext cx="54864" cy="118872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42316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66560" y="2340943"/>
            <a:ext cx="20116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 – Quick Risk Profile Check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20 Minutes – Full Margin Risk Verdict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7665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margin risk verdict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126480" y="3474720"/>
            <a:ext cx="2834640" cy="1188720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6126480" y="3474720"/>
            <a:ext cx="54864" cy="118872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9476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66560" y="3675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Gross Margin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76656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COGS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70"/>
                </a:solidFill>
              </a:rPr>
              <a:t>Investor Presentation · 2026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1A7A3C"/>
                </a:solidFill>
              </a:rPr>
              <a:t>marginmix.ai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ORIGIN STORY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MarginMix Exists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 </a:t>
            </a:r>
            <a:r>
              <a:rPr lang="en-US" sz="1200" i="1" dirty="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bleed margin slowly and unknowingly during delivery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40416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win work that looks commercially sound.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416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team is busy.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40416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21762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client is satisfied.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2176272"/>
            <a:ext cx="40416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21762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Delivery feels under control.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8321040" cy="1115568"/>
          </a:xfrm>
          <a:prstGeom prst="rect">
            <a:avLst/>
          </a:prstGeom>
          <a:solidFill>
            <a:srgbClr val="FFF8E8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64008" cy="111556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72384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29900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A5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yet, a few months in, margin starts to feel... harder to explain.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60120" y="33101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Senior leaders are spending more time than expected. Conversations multiply. Decisions that should be straightforward take longer.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4206240"/>
            <a:ext cx="8321040" cy="685800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94360" y="42062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None of this feels like failure.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But, the economics don't add up.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7CBE2-FA19-3B77-54F7-07BE7FA7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260DF4-1209-7623-9645-8DF83E9DC90B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E48BC4-4759-F1B2-BE36-E32A57961785}"/>
              </a:ext>
            </a:extLst>
          </p:cNvPr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F5067D-DB0A-7BF8-4161-EF857547076C}"/>
              </a:ext>
            </a:extLst>
          </p:cNvPr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FOUNDER'S INSIGHT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DD1FB5-3096-0310-2ECA-38A851AC56DA}"/>
              </a:ext>
            </a:extLst>
          </p:cNvPr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Sid Kept Seeing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265BF1-44A9-1052-79A6-0F061676A5A4}"/>
              </a:ext>
            </a:extLst>
          </p:cNvPr>
          <p:cNvSpPr/>
          <p:nvPr/>
        </p:nvSpPr>
        <p:spPr>
          <a:xfrm>
            <a:off x="411480" y="10515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Across large agency networks and consulting-style engagements, margin conversations focus on the wrong things.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B20DAD-A8A6-8C4A-E7AB-484317D07887}"/>
              </a:ext>
            </a:extLst>
          </p:cNvPr>
          <p:cNvSpPr/>
          <p:nvPr/>
        </p:nvSpPr>
        <p:spPr>
          <a:xfrm>
            <a:off x="411480" y="1463040"/>
            <a:ext cx="2606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37FA693-8DB1-2BF8-F07C-1AF72E6E7F2A}"/>
              </a:ext>
            </a:extLst>
          </p:cNvPr>
          <p:cNvSpPr/>
          <p:nvPr/>
        </p:nvSpPr>
        <p:spPr>
          <a:xfrm>
            <a:off x="411480" y="14630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Pricing discipline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A009893-030C-4A50-F2F2-08BF6B73E248}"/>
              </a:ext>
            </a:extLst>
          </p:cNvPr>
          <p:cNvSpPr/>
          <p:nvPr/>
        </p:nvSpPr>
        <p:spPr>
          <a:xfrm>
            <a:off x="3200400" y="1463040"/>
            <a:ext cx="2606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E8AE09F-972A-AF4A-E061-57FF6CC5C5EE}"/>
              </a:ext>
            </a:extLst>
          </p:cNvPr>
          <p:cNvSpPr/>
          <p:nvPr/>
        </p:nvSpPr>
        <p:spPr>
          <a:xfrm>
            <a:off x="3200400" y="14630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Utilization targets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2A8044C-F785-3A8C-EBF4-92D85BA672D6}"/>
              </a:ext>
            </a:extLst>
          </p:cNvPr>
          <p:cNvSpPr/>
          <p:nvPr/>
        </p:nvSpPr>
        <p:spPr>
          <a:xfrm>
            <a:off x="5989320" y="1463040"/>
            <a:ext cx="2606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420866B-376A-BC38-3AF5-6C88B829B12F}"/>
              </a:ext>
            </a:extLst>
          </p:cNvPr>
          <p:cNvSpPr/>
          <p:nvPr/>
        </p:nvSpPr>
        <p:spPr>
          <a:xfrm>
            <a:off x="5989320" y="14630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Delivery efficiency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03474F6-3C51-BEA1-FBB1-68C8F829939E}"/>
              </a:ext>
            </a:extLst>
          </p:cNvPr>
          <p:cNvSpPr/>
          <p:nvPr/>
        </p:nvSpPr>
        <p:spPr>
          <a:xfrm>
            <a:off x="411480" y="2057400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A33D35C-0F48-281B-AD43-ED0F98F8E508}"/>
              </a:ext>
            </a:extLst>
          </p:cNvPr>
          <p:cNvSpPr/>
          <p:nvPr/>
        </p:nvSpPr>
        <p:spPr>
          <a:xfrm>
            <a:off x="411480" y="2057400"/>
            <a:ext cx="64008" cy="123444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2197E8-9B50-EAF1-F041-636C6657008A}"/>
              </a:ext>
            </a:extLst>
          </p:cNvPr>
          <p:cNvSpPr/>
          <p:nvPr/>
        </p:nvSpPr>
        <p:spPr>
          <a:xfrm>
            <a:off x="594360" y="21214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These matter, but they miss a deeper structural issue: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1A3107-1CD9-2CE4-39F9-1C347A5BC1DE}"/>
              </a:ext>
            </a:extLst>
          </p:cNvPr>
          <p:cNvSpPr/>
          <p:nvPr/>
        </p:nvSpPr>
        <p:spPr>
          <a:xfrm>
            <a:off x="594360" y="23774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delivery complexity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how much senior attention, coordination drag, iteration intensity and cognitive load an engagement quietly demands over time.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BD94EF9-3717-0067-E7E7-16177B720907}"/>
              </a:ext>
            </a:extLst>
          </p:cNvPr>
          <p:cNvSpPr/>
          <p:nvPr/>
        </p:nvSpPr>
        <p:spPr>
          <a:xfrm>
            <a:off x="594360" y="27614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5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"Delivery Complexity" is rarely tracked formally.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Yet it is often the single biggest driver of margin erosion.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05C405C-84BB-0BCE-E870-91481C8665F3}"/>
              </a:ext>
            </a:extLst>
          </p:cNvPr>
          <p:cNvSpPr/>
          <p:nvPr/>
        </p:nvSpPr>
        <p:spPr>
          <a:xfrm>
            <a:off x="411480" y="3429000"/>
            <a:ext cx="8321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05E8A03-82A9-C86C-807C-0A8A5FF598A0}"/>
              </a:ext>
            </a:extLst>
          </p:cNvPr>
          <p:cNvSpPr/>
          <p:nvPr/>
        </p:nvSpPr>
        <p:spPr>
          <a:xfrm>
            <a:off x="411480" y="3429000"/>
            <a:ext cx="347472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D8E73DB-A40C-C40D-49FA-2ABE07598D6A}"/>
              </a:ext>
            </a:extLst>
          </p:cNvPr>
          <p:cNvSpPr/>
          <p:nvPr/>
        </p:nvSpPr>
        <p:spPr>
          <a:xfrm>
            <a:off x="411480" y="34290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7D180E3-43A2-F72B-2224-D7C2C2039E2A}"/>
              </a:ext>
            </a:extLst>
          </p:cNvPr>
          <p:cNvSpPr/>
          <p:nvPr/>
        </p:nvSpPr>
        <p:spPr>
          <a:xfrm>
            <a:off x="86868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much senior attention </a:t>
            </a:r>
            <a:r>
              <a:rPr lang="en-US" sz="1000" dirty="0">
                <a:solidFill>
                  <a:srgbClr val="2C3E30"/>
                </a:solidFill>
                <a:latin typeface="Calibri" panose="020F0502020204030204"/>
              </a:rPr>
              <a:t>and intervention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engagement really demands over time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F7314E6-6600-61D2-80F1-5B3836C38E50}"/>
              </a:ext>
            </a:extLst>
          </p:cNvPr>
          <p:cNvSpPr/>
          <p:nvPr/>
        </p:nvSpPr>
        <p:spPr>
          <a:xfrm>
            <a:off x="411480" y="3867912"/>
            <a:ext cx="8321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6F6FCD6-3926-F8A9-98A0-F9784845C998}"/>
              </a:ext>
            </a:extLst>
          </p:cNvPr>
          <p:cNvSpPr/>
          <p:nvPr/>
        </p:nvSpPr>
        <p:spPr>
          <a:xfrm>
            <a:off x="411480" y="3867912"/>
            <a:ext cx="347472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2AF4254-9F95-6EF6-C5D5-1C8E7C65C475}"/>
              </a:ext>
            </a:extLst>
          </p:cNvPr>
          <p:cNvSpPr/>
          <p:nvPr/>
        </p:nvSpPr>
        <p:spPr>
          <a:xfrm>
            <a:off x="411480" y="38679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88F5126-49F9-756F-3319-494D380DAE82}"/>
              </a:ext>
            </a:extLst>
          </p:cNvPr>
          <p:cNvSpPr/>
          <p:nvPr/>
        </p:nvSpPr>
        <p:spPr>
          <a:xfrm>
            <a:off x="868680" y="38679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much coordination is required as stakeholders multiply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FEFC8DA-8558-B656-926A-0867BAB6E0DC}"/>
              </a:ext>
            </a:extLst>
          </p:cNvPr>
          <p:cNvSpPr/>
          <p:nvPr/>
        </p:nvSpPr>
        <p:spPr>
          <a:xfrm>
            <a:off x="411480" y="4306824"/>
            <a:ext cx="8321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C4ED798-9840-099D-83D6-9084B0613B48}"/>
              </a:ext>
            </a:extLst>
          </p:cNvPr>
          <p:cNvSpPr/>
          <p:nvPr/>
        </p:nvSpPr>
        <p:spPr>
          <a:xfrm>
            <a:off x="411480" y="4306824"/>
            <a:ext cx="347472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3402D9B-514F-6D4E-43B6-876A0FBFFC40}"/>
              </a:ext>
            </a:extLst>
          </p:cNvPr>
          <p:cNvSpPr/>
          <p:nvPr/>
        </p:nvSpPr>
        <p:spPr>
          <a:xfrm>
            <a:off x="411480" y="430682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60110C5-C178-1350-5C18-76B88DDD3159}"/>
              </a:ext>
            </a:extLst>
          </p:cNvPr>
          <p:cNvSpPr/>
          <p:nvPr/>
        </p:nvSpPr>
        <p:spPr>
          <a:xfrm>
            <a:off x="868680" y="43068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often work needs to be revisited, refined, or re-explained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DD8D874-166C-5CD8-E067-4071689E9AD8}"/>
              </a:ext>
            </a:extLst>
          </p:cNvPr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MarginMix make this visible before it becomes a problem.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102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TEAM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by operators. Advised by enterprise leaders.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52400" dist="38100" dir="8100000" algn="bl" rotWithShape="0">
              <a:srgbClr val="EAF2EC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411480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30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FOUNDER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057400" y="1572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Siddhartha Dasgupta (Sid)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05740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Founder, MarginMix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057400" y="2176272"/>
            <a:ext cx="530352" cy="219456"/>
          </a:xfrm>
          <a:prstGeom prst="rect">
            <a:avLst/>
          </a:prstGeom>
          <a:solidFill>
            <a:srgbClr val="D0E4D6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057400" y="21762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Dentsu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651760" y="2176272"/>
            <a:ext cx="530352" cy="219456"/>
          </a:xfrm>
          <a:prstGeom prst="rect">
            <a:avLst/>
          </a:prstGeom>
          <a:solidFill>
            <a:srgbClr val="D0E4D6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651760" y="21762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Ogilvy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46120" y="2176272"/>
            <a:ext cx="530352" cy="219456"/>
          </a:xfrm>
          <a:prstGeom prst="rect">
            <a:avLst/>
          </a:prstGeom>
          <a:solidFill>
            <a:srgbClr val="D0E4D6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246120" y="21762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Grey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840480" y="2176272"/>
            <a:ext cx="530352" cy="219456"/>
          </a:xfrm>
          <a:prstGeom prst="rect">
            <a:avLst/>
          </a:prstGeom>
          <a:solidFill>
            <a:srgbClr val="D0E4D6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840480" y="21762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Publicis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94360" y="2542032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Career spent across creative, media, corporate marketing and performance-led environments working with global networks. Led large accounts, managed cross-market teams, sat in commercial and operational conversations, and been accountable for both growth and profitability.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94360" y="3822192"/>
            <a:ext cx="3794760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4360" y="385876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MarginMix is not an abstract idea. It is a synthesis of patterns observed over years inside the system.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709160" y="1170432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52400" dist="38100" dir="8100000" algn="bl" rotWithShape="0">
              <a:srgbClr val="EAF2EC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09160" y="1170432"/>
            <a:ext cx="402336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80060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300" normalizeH="0" baseline="0" noProof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ADVISOR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263640" y="1572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Joy Dasgupta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26364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CEO, gyanAI · Advisor, MarginMix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263640" y="2176272"/>
            <a:ext cx="530352" cy="219456"/>
          </a:xfrm>
          <a:prstGeom prst="rect">
            <a:avLst/>
          </a:prstGeom>
          <a:solidFill>
            <a:srgbClr val="D0E4D6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6263640" y="21762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HP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6858000" y="2176272"/>
            <a:ext cx="530352" cy="219456"/>
          </a:xfrm>
          <a:prstGeom prst="rect">
            <a:avLst/>
          </a:prstGeom>
          <a:solidFill>
            <a:srgbClr val="D0E4D6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6858000" y="21762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AMEX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7452360" y="2176272"/>
            <a:ext cx="530352" cy="219456"/>
          </a:xfrm>
          <a:prstGeom prst="rect">
            <a:avLst/>
          </a:prstGeom>
          <a:solidFill>
            <a:srgbClr val="D0E4D6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452360" y="21762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Genpact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846320" y="2542032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Seasoned enterprise operator who has led large-scale business transformation across global teams at HP, AMEX and Genpact. Deep firsthand understanding of margin risk in labor-intensive operating models. Based in Boston.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846320" y="3822192"/>
            <a:ext cx="3749040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4846320" y="3858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Advises MarginMix on decision system design, operating-model risk, and enterprise adoption.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Picture 38" descr="A person in a suit and tie&#10;&#10;AI-generated content may be incorrect.">
            <a:extLst>
              <a:ext uri="{FF2B5EF4-FFF2-40B4-BE49-F238E27FC236}">
                <a16:creationId xmlns:a16="http://schemas.microsoft.com/office/drawing/2014/main" id="{03639301-2549-3E8D-7870-318E87CBD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71" y="1610482"/>
            <a:ext cx="872938" cy="872938"/>
          </a:xfrm>
          <a:prstGeom prst="rect">
            <a:avLst/>
          </a:prstGeom>
        </p:spPr>
      </p:pic>
      <p:pic>
        <p:nvPicPr>
          <p:cNvPr id="43" name="Picture 42" descr="A person with a beard&#10;&#10;AI-generated content may be incorrect.">
            <a:extLst>
              <a:ext uri="{FF2B5EF4-FFF2-40B4-BE49-F238E27FC236}">
                <a16:creationId xmlns:a16="http://schemas.microsoft.com/office/drawing/2014/main" id="{6ADEE2B9-BF25-9390-3762-36268F104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675" y="1508987"/>
            <a:ext cx="824641" cy="1010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PROBLEM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Firms price work before they understand how it will be delivered.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pricing and delivery reality is where margin is destroyed.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5506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600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Timesheets are inaccurate and lagging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5798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is noisy and backward-looking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6090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606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and coordination costs are underestimated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6382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3108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changes effort patterns — but ROI is unclear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66744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Judgment lives in senior operators' heads, not systems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5852160" y="1481328"/>
            <a:ext cx="2834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77800" dist="38100" dir="8100000" algn="bl" rotWithShape="0">
              <a:srgbClr val="EAF2EC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5852160" y="1481328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943600" y="1572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RESULT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5961888" y="1883664"/>
            <a:ext cx="2615184" cy="530352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5989320" y="1883664"/>
            <a:ext cx="2560320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A5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18–20%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benchmark EBITDA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5961888" y="2468880"/>
            <a:ext cx="2615184" cy="530352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989320" y="2468880"/>
            <a:ext cx="2560320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13%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or less — what most realize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5961888" y="3054096"/>
            <a:ext cx="2615184" cy="658368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6016752" y="3054096"/>
            <a:ext cx="2505456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a $25M agency, that gap is
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5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 $1.5M a year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594360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not lost to bad clients, but to delivery complexity that was never priced in.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502920" y="45720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is not a margin leakage problem. It is a pricing and commitment risk problem.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A7A3C"/>
                </a:solidFill>
              </a:rPr>
              <a:t>THE SOLUTION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question. One verdict. Before commitment is locked.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321040" cy="411480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2C3E30"/>
                </a:solidFill>
              </a:rPr>
              <a:t>"Given how this engagement will actually be delivered, is the pricing economically viable?"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41148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411480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A7A3C"/>
                </a:solidFill>
              </a:rPr>
              <a:t>WHAT MARGINMIX OUTPUTS</a:t>
            </a:r>
            <a:endParaRPr lang="en-US" sz="80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03704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14884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risk verdict (5-level classification)</a:t>
            </a:r>
            <a:endParaRPr lang="en-US" sz="10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8775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2532888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risk drivers identified</a:t>
            </a:r>
            <a:endParaRPr lang="en-US" sz="10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2916936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bands — Senior / Mid / Execution</a:t>
            </a:r>
            <a:endParaRPr lang="en-US" sz="10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5584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300984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governance implications</a:t>
            </a:r>
            <a:endParaRPr lang="en-US" sz="100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" y="3685032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memo at CXO / partner level</a:t>
            </a:r>
            <a:endParaRPr lang="en-US" sz="100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23944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2960" y="406908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margin erosion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4754880" y="1737360"/>
            <a:ext cx="39776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4754880" y="1737360"/>
            <a:ext cx="3977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484632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C0392B"/>
                </a:solidFill>
              </a:rPr>
              <a:t>WHAT IT IS NOT</a:t>
            </a:r>
            <a:endParaRPr lang="en-US" sz="80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31136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66360" y="2176272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rely on intuition-based spreadsheets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70048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66360" y="2615184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model delivery performance</a:t>
            </a:r>
            <a:endParaRPr lang="en-US" sz="10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08960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66360" y="3054096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replace finance systems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4754880" y="3337560"/>
            <a:ext cx="3977640" cy="1234440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456432"/>
            <a:ext cx="320040" cy="32004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285232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1A7A3C"/>
                </a:solidFill>
              </a:rPr>
              <a:t>THE ENGINE</a:t>
            </a:r>
            <a:endParaRPr lang="en-US" sz="800"/>
          </a:p>
        </p:txBody>
      </p:sp>
      <p:sp>
        <p:nvSpPr>
          <p:cNvPr id="35" name="Text 23"/>
          <p:cNvSpPr/>
          <p:nvPr/>
        </p:nvSpPr>
        <p:spPr>
          <a:xfrm>
            <a:off x="4892040" y="37033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30"/>
                </a:solidFill>
              </a:rPr>
              <a:t>Deterministic. Rule-based. No ML. No AI in verdict logic.(EMPHASIZE AI)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30"/>
                </a:solidFill>
              </a:rPr>
              <a:t>Encodes expert judgment into a repeatable, auditable decision system.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A7A3C"/>
                </a:solidFill>
              </a:rPr>
              <a:t>WHY NOW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411480" y="4069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forces converging right now.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813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define this category as a standard is 18–24 months.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64008" cy="150876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" y="1618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7A3C"/>
                </a:solidFill>
              </a:rPr>
              <a:t>01</a:t>
            </a:r>
            <a:endParaRPr lang="en-US" sz="9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07568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" y="1856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reshaping delivery economics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557784" y="22219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are adopting AI tools rapidly but have no framework to price AI-augmented work. The effort mix has changed. The pricing model hasn't.</a:t>
            </a:r>
            <a:endParaRPr lang="en-US" sz="900"/>
          </a:p>
        </p:txBody>
      </p:sp>
      <p:sp>
        <p:nvSpPr>
          <p:cNvPr id="13" name="Shape 10"/>
          <p:cNvSpPr/>
          <p:nvPr/>
        </p:nvSpPr>
        <p:spPr>
          <a:xfrm>
            <a:off x="4818888" y="150876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18888" y="1508760"/>
            <a:ext cx="64008" cy="150876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65192" y="1618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7A3C"/>
                </a:solidFill>
              </a:rPr>
              <a:t>02</a:t>
            </a:r>
            <a:endParaRPr lang="en-US" sz="9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2075688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65192" y="1856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CFOs want predictive confidence</a:t>
            </a:r>
            <a:endParaRPr lang="en-US" sz="1100"/>
          </a:p>
        </p:txBody>
      </p:sp>
      <p:sp>
        <p:nvSpPr>
          <p:cNvPr id="18" name="Text 14"/>
          <p:cNvSpPr/>
          <p:nvPr/>
        </p:nvSpPr>
        <p:spPr>
          <a:xfrm>
            <a:off x="4965192" y="22219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margin pressure means finance leaders demand forward-looking risk signals — not post-mortems built on lagging timesheet data.</a:t>
            </a:r>
            <a:endParaRPr lang="en-US" sz="900"/>
          </a:p>
        </p:txBody>
      </p:sp>
      <p:sp>
        <p:nvSpPr>
          <p:cNvPr id="19" name="Shape 15"/>
          <p:cNvSpPr/>
          <p:nvPr/>
        </p:nvSpPr>
        <p:spPr>
          <a:xfrm>
            <a:off x="411480" y="320040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11480" y="3200400"/>
            <a:ext cx="64008" cy="150876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57784" y="3310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7A3C"/>
                </a:solidFill>
              </a:rPr>
              <a:t>03</a:t>
            </a:r>
            <a:endParaRPr lang="en-US" sz="9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767328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7784" y="3547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sits before commitment</a:t>
            </a:r>
            <a:endParaRPr lang="en-US" sz="1100"/>
          </a:p>
        </p:txBody>
      </p:sp>
      <p:sp>
        <p:nvSpPr>
          <p:cNvPr id="24" name="Text 19"/>
          <p:cNvSpPr/>
          <p:nvPr/>
        </p:nvSpPr>
        <p:spPr>
          <a:xfrm>
            <a:off x="557784" y="39136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tool — ERP, PSA, BI — operates after delivery begins. The pre-commitment gap is entirely unaddressed. MarginMix owns that moment.</a:t>
            </a:r>
            <a:endParaRPr lang="en-US" sz="900"/>
          </a:p>
        </p:txBody>
      </p:sp>
      <p:sp>
        <p:nvSpPr>
          <p:cNvPr id="25" name="Shape 20"/>
          <p:cNvSpPr/>
          <p:nvPr/>
        </p:nvSpPr>
        <p:spPr>
          <a:xfrm>
            <a:off x="4818888" y="320040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818888" y="3200400"/>
            <a:ext cx="64008" cy="150876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965192" y="3310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7A3C"/>
                </a:solidFill>
              </a:rPr>
              <a:t>04</a:t>
            </a:r>
            <a:endParaRPr lang="en-US" sz="90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3767328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965192" y="3547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 — briefly</a:t>
            </a:r>
            <a:endParaRPr lang="en-US" sz="1100"/>
          </a:p>
        </p:txBody>
      </p:sp>
      <p:sp>
        <p:nvSpPr>
          <p:cNvPr id="30" name="Text 24"/>
          <p:cNvSpPr/>
          <p:nvPr/>
        </p:nvSpPr>
        <p:spPr>
          <a:xfrm>
            <a:off x="4965192" y="391363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firms will build this capability. The window to establish 'Margin Risk Clarity' as the category standard is 18–24 months.</a:t>
            </a:r>
            <a:endParaRPr lang="en-US" sz="90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DA1B5410-5662-F41B-C9B2-0772138F1EB1}"/>
              </a:ext>
            </a:extLst>
          </p:cNvPr>
          <p:cNvSpPr/>
          <p:nvPr/>
        </p:nvSpPr>
        <p:spPr>
          <a:xfrm>
            <a:off x="443484" y="1152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MarginMix starts with the pre-commitment Margin Risk Moment. </a:t>
            </a:r>
          </a:p>
          <a:p>
            <a:pPr marL="0" indent="0">
              <a:buNone/>
            </a:pPr>
            <a:r>
              <a:rPr lang="en-US" sz="1100" b="1" i="1" dirty="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is to become The Decision Engine for Commercial Viability across the entire AI Augmented services economy.</a:t>
            </a:r>
            <a:endParaRPr lang="en-US" sz="11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ctionLabel"/>
          <p:cNvSpPr/>
          <p:nvPr/>
        </p:nvSpPr>
        <p:spPr>
          <a:xfrm>
            <a:off x="411480" y="164592"/>
            <a:ext cx="16002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ROADMAP</a:t>
            </a:r>
          </a:p>
        </p:txBody>
      </p:sp>
      <p:sp>
        <p:nvSpPr>
          <p:cNvPr id="4" name="Title"/>
          <p:cNvSpPr/>
          <p:nvPr/>
        </p:nvSpPr>
        <p:spPr>
          <a:xfrm>
            <a:off x="411480" y="571500"/>
            <a:ext cx="8300000" cy="457200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1A1A1A"/>
                </a:solidFill>
                <a:latin typeface="Calibri" panose="020F0502020204030204"/>
              </a:rPr>
              <a:t>Margin Risk Assessment &gt;&gt; Financial Engine for Professional Services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Same engine. Expanding surface area. Each stage funds the next.</a:t>
            </a:r>
          </a:p>
        </p:txBody>
      </p:sp>
      <p:sp>
        <p:nvSpPr>
          <p:cNvPr id="5" name="Stage1"/>
          <p:cNvSpPr/>
          <p:nvPr/>
        </p:nvSpPr>
        <p:spPr>
          <a:xfrm>
            <a:off x="411480" y="1143000"/>
            <a:ext cx="1920240" cy="3429000"/>
          </a:xfrm>
          <a:prstGeom prst="rect">
            <a:avLst/>
          </a:prstGeom>
          <a:solidFill>
            <a:srgbClr val="1A7A3C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1 — NOW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Pre-Commitment Margin Risk Assessment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4EDD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Single engagement verdict. Deterministic. $89 per assessment / $1,250/month. The wedge that proves the framework 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4EDD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Deterministic engine. AI narrative layer. Proprietary logic. Built with AI agents — no engineering hire required.</a:t>
            </a:r>
          </a:p>
        </p:txBody>
      </p:sp>
      <p:sp>
        <p:nvSpPr>
          <p:cNvPr id="6" name="Stage2"/>
          <p:cNvSpPr/>
          <p:nvPr/>
        </p:nvSpPr>
        <p:spPr>
          <a:xfrm>
            <a:off x="2560320" y="1143000"/>
            <a:ext cx="19202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7A3C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2 — MONTH 8-18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Portfolio Intelligence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Portfolio-level risk visibility across all active engagements. Pattern recognition across client types and partner pricing behaviour. $2,500-$5,000/month.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Memory layer on top of the engine. Assessment history. No proprietary data ingestion required.</a:t>
            </a:r>
          </a:p>
        </p:txBody>
      </p:sp>
      <p:sp>
        <p:nvSpPr>
          <p:cNvPr id="7" name="Stage3"/>
          <p:cNvSpPr/>
          <p:nvPr/>
        </p:nvSpPr>
        <p:spPr>
          <a:xfrm>
            <a:off x="4709160" y="1143000"/>
            <a:ext cx="19202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7A3C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3 — MONTH 18-36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Deal Desk Infrastructure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Pricing recommendations. Scope governance. Deal approval workflows. High-risk engagement routing. $25K-$50K ACV enterprise tier.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Workflow and governance layer. Requires dedicated engineering</a:t>
            </a: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tage4"/>
          <p:cNvSpPr/>
          <p:nvPr/>
        </p:nvSpPr>
        <p:spPr>
          <a:xfrm>
            <a:off x="6858000" y="1143000"/>
            <a:ext cx="19202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7A3C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4 — YEAR 3-5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 Economy Financial Engine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services engagement assessed before commitment. Industry benchmarking. Cross-firm risk intelligence. Network effects emerge through usage at scale.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intelligence layer. Data moat built organically through usage. The Stripe of commercial decision infrastructure.</a:t>
            </a:r>
          </a:p>
        </p:txBody>
      </p:sp>
      <p:sp>
        <p:nvSpPr>
          <p:cNvPr id="9" name="ArchNote"/>
          <p:cNvSpPr/>
          <p:nvPr/>
        </p:nvSpPr>
        <p:spPr>
          <a:xfrm>
            <a:off x="411480" y="4686300"/>
            <a:ext cx="8366760" cy="342900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principle: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deterministic engine. Four expanding layers. Every stage builds on the same verdict logic — never rebuilt, only extended.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A7A3C"/>
                </a:solidFill>
              </a:rPr>
              <a:t>TARGET CUSTOMER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Wedge: Agencies &amp; Boutique Consulting Firms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274320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35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1A7A3C"/>
                </a:solidFill>
              </a:rPr>
              <a:t>FIRM PROFILE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C3A"/>
                </a:solidFill>
              </a:rPr>
              <a:t>50–2000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C70"/>
                </a:solidFill>
              </a:rPr>
              <a:t>employees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2468880" cy="365760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2C3E30"/>
                </a:solidFill>
              </a:rPr>
              <a:t>Mid-tier &amp; independent agencies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548640" y="3044952"/>
            <a:ext cx="2468880" cy="365760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2C3E30"/>
                </a:solidFill>
              </a:rPr>
              <a:t>Consulting firms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2468880" cy="365760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547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2C3E30"/>
                </a:solidFill>
              </a:rPr>
              <a:t>Digital transformation firms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3383280" y="1261872"/>
            <a:ext cx="2468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83280" y="1261872"/>
            <a:ext cx="246888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1335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2D6A4F"/>
                </a:solidFill>
              </a:rPr>
              <a:t>KEY BUYERS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3493008" y="1737360"/>
            <a:ext cx="2249424" cy="713232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7872" y="181051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C"/>
                </a:solidFill>
              </a:rPr>
              <a:t>CFO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3547872" y="21031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C70"/>
                </a:solidFill>
              </a:rPr>
              <a:t>Owns margin accountability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3493008" y="2606040"/>
            <a:ext cx="2249424" cy="713232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47872" y="267919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C"/>
                </a:solidFill>
              </a:rPr>
              <a:t>COO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3547872" y="29718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C70"/>
                </a:solidFill>
              </a:rPr>
              <a:t>Owns delivery risk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3493008" y="3474720"/>
            <a:ext cx="2249424" cy="713232"/>
          </a:xfrm>
          <a:prstGeom prst="rect">
            <a:avLst/>
          </a:prstGeom>
          <a:solidFill>
            <a:srgbClr val="F7F5F0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47872" y="354787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C"/>
                </a:solidFill>
              </a:rPr>
              <a:t>Partner / MD / Founder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47872" y="384048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C70"/>
                </a:solidFill>
              </a:rPr>
              <a:t>Owns deal commitment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6035040" y="1261872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35040" y="1261872"/>
            <a:ext cx="274320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0" y="1335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1A7A3C"/>
                </a:solidFill>
              </a:rPr>
              <a:t>WHY THESE FIRMS</a:t>
            </a:r>
            <a:endParaRPr lang="en-US" sz="80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810512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419088" y="171907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</a:rPr>
              <a:t>70–80 pricing decisions annually</a:t>
            </a:r>
            <a:endParaRPr lang="en-US" sz="100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340864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419088" y="224942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30"/>
                </a:solidFill>
              </a:rPr>
              <a:t>Cannot service high value projects</a:t>
            </a:r>
            <a:endParaRPr lang="en-US" sz="10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871216"/>
            <a:ext cx="201168" cy="20116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419088" y="277977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</a:rPr>
              <a:t>Lack internal decision systems</a:t>
            </a:r>
            <a:endParaRPr lang="en-US" sz="100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401568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419088" y="33101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</a:rPr>
              <a:t>Feel margin risk acutely</a:t>
            </a:r>
            <a:endParaRPr lang="en-US" sz="100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931920"/>
            <a:ext cx="201168" cy="20116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419088" y="384048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</a:rPr>
              <a:t>High stakes per decision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A7A3C"/>
                </a:solidFill>
              </a:rPr>
              <a:t>REVENUE MODEL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Value-based. Decision-anchored. Not seat-based.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reflects the value of the decision being protected — not the number of users. Insurance for protecting margins.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52400" dist="38100" dir="8100000" algn="bl" rotWithShape="0">
              <a:srgbClr val="EAF2E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2743200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>
                <a:solidFill>
                  <a:srgbClr val="1A7A3C"/>
                </a:solidFill>
              </a:rPr>
              <a:t>ENTRY / ASSESSMENT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1C1C"/>
                </a:solidFill>
              </a:rPr>
              <a:t>$1899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C70"/>
                </a:solidFill>
              </a:rPr>
              <a:t>per submission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2377440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044952"/>
            <a:ext cx="164592" cy="1645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0392" y="2971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C3E30"/>
                </a:solidFill>
              </a:rPr>
              <a:t>Instant output</a:t>
            </a:r>
            <a:endParaRPr lang="en-US" sz="95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392424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0392" y="3319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C3E30"/>
                </a:solidFill>
              </a:rPr>
              <a:t>No free trial</a:t>
            </a:r>
            <a:endParaRPr lang="en-US" sz="95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739896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" y="36667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30"/>
                </a:solidFill>
              </a:rPr>
              <a:t>Decision memo + PDF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4462272"/>
            <a:ext cx="246888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48640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A7A3C"/>
                </a:solidFill>
              </a:rPr>
              <a:t>Low friction entry</a:t>
            </a:r>
            <a:endParaRPr lang="en-US" sz="850"/>
          </a:p>
        </p:txBody>
      </p:sp>
      <p:sp>
        <p:nvSpPr>
          <p:cNvPr id="21" name="Shape 16"/>
          <p:cNvSpPr/>
          <p:nvPr/>
        </p:nvSpPr>
        <p:spPr>
          <a:xfrm>
            <a:off x="3319272" y="148132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52400" dist="38100" dir="8100000" algn="bl" rotWithShape="0">
              <a:srgbClr val="EAF2E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3319272" y="1481328"/>
            <a:ext cx="2743200" cy="6400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3410712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>
                <a:solidFill>
                  <a:srgbClr val="1A5C3A"/>
                </a:solidFill>
              </a:rPr>
              <a:t>SUBSCRIPTION</a:t>
            </a:r>
            <a:endParaRPr lang="en-US" sz="750"/>
          </a:p>
        </p:txBody>
      </p:sp>
      <p:sp>
        <p:nvSpPr>
          <p:cNvPr id="24" name="Text 19"/>
          <p:cNvSpPr/>
          <p:nvPr/>
        </p:nvSpPr>
        <p:spPr>
          <a:xfrm>
            <a:off x="3410712" y="1901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1C1C"/>
                </a:solidFill>
              </a:rPr>
              <a:t>$5000</a:t>
            </a:r>
          </a:p>
        </p:txBody>
      </p:sp>
      <p:sp>
        <p:nvSpPr>
          <p:cNvPr id="25" name="Text 20"/>
          <p:cNvSpPr/>
          <p:nvPr/>
        </p:nvSpPr>
        <p:spPr>
          <a:xfrm>
            <a:off x="3410712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70"/>
                </a:solidFill>
              </a:rPr>
              <a:t>/month · 60K ACV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502152" y="2880360"/>
            <a:ext cx="2377440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044952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758184" y="2971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C3E30"/>
                </a:solidFill>
              </a:rPr>
              <a:t>Unlimited submissions</a:t>
            </a:r>
            <a:endParaRPr lang="en-US" sz="95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392424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58184" y="3319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C3E30"/>
                </a:solidFill>
              </a:rPr>
              <a:t>Portfolio-level views</a:t>
            </a:r>
            <a:endParaRPr lang="en-US" sz="95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739896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58184" y="36667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C3E30"/>
                </a:solidFill>
              </a:rPr>
              <a:t>Deal desk workflows</a:t>
            </a:r>
            <a:endParaRPr lang="en-US" sz="95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087368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758184" y="40142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C3E30"/>
                </a:solidFill>
              </a:rPr>
              <a:t>AI ROI simulation</a:t>
            </a:r>
            <a:endParaRPr lang="en-US" sz="950"/>
          </a:p>
        </p:txBody>
      </p:sp>
      <p:sp>
        <p:nvSpPr>
          <p:cNvPr id="35" name="Shape 26"/>
          <p:cNvSpPr/>
          <p:nvPr/>
        </p:nvSpPr>
        <p:spPr>
          <a:xfrm>
            <a:off x="3456432" y="4462272"/>
            <a:ext cx="246888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/>
          <p:nvPr/>
        </p:nvSpPr>
        <p:spPr>
          <a:xfrm>
            <a:off x="3456432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A5C3A"/>
                </a:solidFill>
              </a:rPr>
              <a:t>Primary revenue driver</a:t>
            </a:r>
            <a:endParaRPr lang="en-US" sz="850"/>
          </a:p>
        </p:txBody>
      </p:sp>
      <p:sp>
        <p:nvSpPr>
          <p:cNvPr id="37" name="Shape 28"/>
          <p:cNvSpPr/>
          <p:nvPr/>
        </p:nvSpPr>
        <p:spPr>
          <a:xfrm>
            <a:off x="6227064" y="148132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52400" dist="38100" dir="8100000" algn="bl" rotWithShape="0">
              <a:srgbClr val="EAF2E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6227064" y="1481328"/>
            <a:ext cx="274320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6318504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>
                <a:solidFill>
                  <a:srgbClr val="2D6A4F"/>
                </a:solidFill>
              </a:rPr>
              <a:t>PHASE 2 EXPANSION</a:t>
            </a:r>
            <a:endParaRPr lang="en-US" sz="750"/>
          </a:p>
        </p:txBody>
      </p:sp>
      <p:sp>
        <p:nvSpPr>
          <p:cNvPr id="40" name="Text 31"/>
          <p:cNvSpPr/>
          <p:nvPr/>
        </p:nvSpPr>
        <p:spPr>
          <a:xfrm>
            <a:off x="6318504" y="1901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1C1C"/>
                </a:solidFill>
              </a:rPr>
              <a:t>$7500</a:t>
            </a:r>
            <a:endParaRPr lang="en-US" sz="3400" dirty="0"/>
          </a:p>
        </p:txBody>
      </p:sp>
      <p:sp>
        <p:nvSpPr>
          <p:cNvPr id="41" name="Text 32"/>
          <p:cNvSpPr/>
          <p:nvPr/>
        </p:nvSpPr>
        <p:spPr>
          <a:xfrm>
            <a:off x="6318504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70"/>
                </a:solidFill>
              </a:rPr>
              <a:t>/month · 90K ACV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409944" y="2880360"/>
            <a:ext cx="2377440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044952"/>
            <a:ext cx="164592" cy="16459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665976" y="2971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C3E30"/>
                </a:solidFill>
              </a:rPr>
              <a:t>Everything in Phase 1</a:t>
            </a:r>
            <a:endParaRPr lang="en-US" sz="95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392424"/>
            <a:ext cx="164592" cy="16459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665976" y="3319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C3E30"/>
                </a:solidFill>
              </a:rPr>
              <a:t>Engineering / SI firms</a:t>
            </a:r>
            <a:endParaRPr lang="en-US" sz="95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739896"/>
            <a:ext cx="164592" cy="16459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665976" y="36667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C3E30"/>
                </a:solidFill>
              </a:rPr>
              <a:t>Full expansion tier</a:t>
            </a:r>
            <a:endParaRPr lang="en-US" sz="950"/>
          </a:p>
        </p:txBody>
      </p:sp>
      <p:sp>
        <p:nvSpPr>
          <p:cNvPr id="49" name="Shape 37"/>
          <p:cNvSpPr/>
          <p:nvPr/>
        </p:nvSpPr>
        <p:spPr>
          <a:xfrm>
            <a:off x="6364224" y="4462272"/>
            <a:ext cx="246888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8"/>
          <p:cNvSpPr/>
          <p:nvPr/>
        </p:nvSpPr>
        <p:spPr>
          <a:xfrm>
            <a:off x="6364224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D6A4F"/>
                </a:solidFill>
              </a:rPr>
              <a:t>Year 2+ upsell</a:t>
            </a:r>
            <a:endParaRPr lang="en-US" sz="850"/>
          </a:p>
        </p:txBody>
      </p:sp>
      <p:sp>
        <p:nvSpPr>
          <p:cNvPr id="51" name="Text 39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C70"/>
                </a:solidFill>
              </a:rPr>
              <a:t>Subscription launches after 300 paying assessment customers (target: within 6 months).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A7A3C"/>
                </a:solidFill>
              </a:rPr>
              <a:t>MARKET OPPORTUNITY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underserved, and structured for expansion.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64008" cy="8961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A7A3C"/>
                </a:solidFill>
              </a:rPr>
              <a:t>TAM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548640" y="1618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</a:rPr>
              <a:t>$100B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71800" y="143560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0"/>
                </a:solidFill>
              </a:rPr>
              <a:t>~40K firms globally · Agencies, consulting, SIs 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68680" y="2322576"/>
            <a:ext cx="7406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2322576"/>
            <a:ext cx="64008" cy="8961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2414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D6A4F"/>
                </a:solidFill>
              </a:rPr>
              <a:t>SAM · Phase 1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1005840" y="26426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</a:rPr>
              <a:t>~$800M - $900M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29000" y="245973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70"/>
                </a:solidFill>
              </a:rPr>
              <a:t>14,200 firms · 13 core markets · $60K ACV · 2–3 year horizon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91640" y="3346704"/>
            <a:ext cx="57607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91640" y="3346704"/>
            <a:ext cx="64008" cy="8961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799" y="3438144"/>
            <a:ext cx="12884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A7A3C"/>
                </a:solidFill>
              </a:rPr>
              <a:t>SOM · 5 to 7 years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8800" y="36667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C1C1C"/>
                </a:solidFill>
              </a:rPr>
              <a:t>$150M </a:t>
            </a:r>
            <a:r>
              <a:rPr lang="en-US" sz="2600" b="1" dirty="0">
                <a:solidFill>
                  <a:srgbClr val="1C1C1C"/>
                </a:solidFill>
              </a:rPr>
              <a:t>ARR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251960" y="348386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B7C70"/>
                </a:solidFill>
              </a:rPr>
              <a:t>2000 firms · top 13 markets · $75K ACV, </a:t>
            </a:r>
            <a:r>
              <a:rPr lang="en-US" sz="950" dirty="0">
                <a:solidFill>
                  <a:srgbClr val="2C3E30"/>
                </a:solidFill>
              </a:rPr>
              <a:t>Transition to the Financial Engine for the Services economy</a:t>
            </a:r>
            <a:r>
              <a:rPr lang="en-US" sz="950" dirty="0">
                <a:solidFill>
                  <a:srgbClr val="6B7C70"/>
                </a:solidFill>
              </a:rPr>
              <a:t> 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A7A3C"/>
                </a:solidFill>
              </a:rPr>
              <a:t>UNIT ECONOMICS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decision product. Not services-heavy SaaS.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C70"/>
                </a:solidFill>
              </a:rPr>
              <a:t>The cost structure is built for scale. The value proposition is built for retention.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72491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276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5C3A"/>
                </a:solidFill>
              </a:rPr>
              <a:t>90%</a:t>
            </a:r>
            <a:endParaRPr lang="en-US" sz="2600"/>
          </a:p>
        </p:txBody>
      </p:sp>
      <p:sp>
        <p:nvSpPr>
          <p:cNvPr id="10" name="Text 7"/>
          <p:cNvSpPr/>
          <p:nvPr/>
        </p:nvSpPr>
        <p:spPr>
          <a:xfrm>
            <a:off x="576072" y="2121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</a:rPr>
              <a:t>Gross Margin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576072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C70"/>
                </a:solidFill>
              </a:rPr>
              <a:t>LLM narration + infra only</a:t>
            </a:r>
            <a:endParaRPr lang="en-US" sz="850"/>
          </a:p>
        </p:txBody>
      </p:sp>
      <p:sp>
        <p:nvSpPr>
          <p:cNvPr id="12" name="Shape 9"/>
          <p:cNvSpPr/>
          <p:nvPr/>
        </p:nvSpPr>
        <p:spPr>
          <a:xfrm>
            <a:off x="3319272" y="1463040"/>
            <a:ext cx="272491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6276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41064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5C3A"/>
                </a:solidFill>
              </a:rPr>
              <a:t>$0</a:t>
            </a:r>
            <a:endParaRPr lang="en-US" sz="2600"/>
          </a:p>
        </p:txBody>
      </p:sp>
      <p:sp>
        <p:nvSpPr>
          <p:cNvPr id="15" name="Text 11"/>
          <p:cNvSpPr/>
          <p:nvPr/>
        </p:nvSpPr>
        <p:spPr>
          <a:xfrm>
            <a:off x="3483864" y="2121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</a:rPr>
              <a:t>Onboarding Cost</a:t>
            </a:r>
            <a:endParaRPr lang="en-US" sz="1100"/>
          </a:p>
        </p:txBody>
      </p:sp>
      <p:sp>
        <p:nvSpPr>
          <p:cNvPr id="16" name="Text 12"/>
          <p:cNvSpPr/>
          <p:nvPr/>
        </p:nvSpPr>
        <p:spPr>
          <a:xfrm>
            <a:off x="3483864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C70"/>
                </a:solidFill>
              </a:rPr>
              <a:t>No integrations required &amp; API enabled – Plug and play if required </a:t>
            </a:r>
            <a:endParaRPr lang="en-US" sz="850"/>
          </a:p>
        </p:txBody>
      </p:sp>
      <p:sp>
        <p:nvSpPr>
          <p:cNvPr id="17" name="Shape 13"/>
          <p:cNvSpPr/>
          <p:nvPr/>
        </p:nvSpPr>
        <p:spPr>
          <a:xfrm>
            <a:off x="6227064" y="1463040"/>
            <a:ext cx="272491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162763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48856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C3A"/>
                </a:solidFill>
              </a:rPr>
              <a:t>~$60K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391656" y="2121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</a:rPr>
              <a:t>ACV Phase 1</a:t>
            </a:r>
            <a:endParaRPr lang="en-US" sz="1100"/>
          </a:p>
        </p:txBody>
      </p:sp>
      <p:sp>
        <p:nvSpPr>
          <p:cNvPr id="21" name="Text 16"/>
          <p:cNvSpPr/>
          <p:nvPr/>
        </p:nvSpPr>
        <p:spPr>
          <a:xfrm>
            <a:off x="6391656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C70"/>
                </a:solidFill>
              </a:rPr>
              <a:t>Subscription tier</a:t>
            </a:r>
            <a:endParaRPr lang="en-US" sz="850"/>
          </a:p>
        </p:txBody>
      </p:sp>
      <p:sp>
        <p:nvSpPr>
          <p:cNvPr id="22" name="Shape 17"/>
          <p:cNvSpPr/>
          <p:nvPr/>
        </p:nvSpPr>
        <p:spPr>
          <a:xfrm>
            <a:off x="411480" y="3154680"/>
            <a:ext cx="272491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31927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33272" y="3264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5C3A"/>
                </a:solidFill>
              </a:rPr>
              <a:t>70–80</a:t>
            </a:r>
            <a:endParaRPr lang="en-US" sz="2600"/>
          </a:p>
        </p:txBody>
      </p:sp>
      <p:sp>
        <p:nvSpPr>
          <p:cNvPr id="25" name="Text 19"/>
          <p:cNvSpPr/>
          <p:nvPr/>
        </p:nvSpPr>
        <p:spPr>
          <a:xfrm>
            <a:off x="576072" y="3813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</a:rPr>
              <a:t>Decisions/yr</a:t>
            </a:r>
            <a:endParaRPr lang="en-US" sz="1100"/>
          </a:p>
        </p:txBody>
      </p:sp>
      <p:sp>
        <p:nvSpPr>
          <p:cNvPr id="26" name="Text 20"/>
          <p:cNvSpPr/>
          <p:nvPr/>
        </p:nvSpPr>
        <p:spPr>
          <a:xfrm>
            <a:off x="576072" y="4087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C70"/>
                </a:solidFill>
              </a:rPr>
              <a:t>Per firm — high-stakes pricing events</a:t>
            </a:r>
            <a:endParaRPr lang="en-US" sz="850"/>
          </a:p>
        </p:txBody>
      </p:sp>
      <p:sp>
        <p:nvSpPr>
          <p:cNvPr id="27" name="Shape 21"/>
          <p:cNvSpPr/>
          <p:nvPr/>
        </p:nvSpPr>
        <p:spPr>
          <a:xfrm>
            <a:off x="3319272" y="3154680"/>
            <a:ext cx="272491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3319272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41064" y="3264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5C3A"/>
                </a:solidFill>
              </a:rPr>
              <a:t>Low</a:t>
            </a:r>
            <a:endParaRPr lang="en-US" sz="2600"/>
          </a:p>
        </p:txBody>
      </p:sp>
      <p:sp>
        <p:nvSpPr>
          <p:cNvPr id="30" name="Text 23"/>
          <p:cNvSpPr/>
          <p:nvPr/>
        </p:nvSpPr>
        <p:spPr>
          <a:xfrm>
            <a:off x="3483864" y="3813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</a:rPr>
              <a:t>CAC</a:t>
            </a:r>
            <a:endParaRPr lang="en-US" sz="1100"/>
          </a:p>
        </p:txBody>
      </p:sp>
      <p:sp>
        <p:nvSpPr>
          <p:cNvPr id="31" name="Text 24"/>
          <p:cNvSpPr/>
          <p:nvPr/>
        </p:nvSpPr>
        <p:spPr>
          <a:xfrm>
            <a:off x="3483864" y="4087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C70"/>
                </a:solidFill>
              </a:rPr>
              <a:t>Founder-led sales in early stage</a:t>
            </a:r>
            <a:endParaRPr lang="en-US" sz="850"/>
          </a:p>
        </p:txBody>
      </p:sp>
      <p:sp>
        <p:nvSpPr>
          <p:cNvPr id="32" name="Shape 25"/>
          <p:cNvSpPr/>
          <p:nvPr/>
        </p:nvSpPr>
        <p:spPr>
          <a:xfrm>
            <a:off x="6227064" y="3154680"/>
            <a:ext cx="272491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3319272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48856" y="3264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5C3A"/>
                </a:solidFill>
              </a:rPr>
              <a:t>&lt; 1 deal</a:t>
            </a:r>
            <a:endParaRPr lang="en-US" sz="2600"/>
          </a:p>
        </p:txBody>
      </p:sp>
      <p:sp>
        <p:nvSpPr>
          <p:cNvPr id="35" name="Text 27"/>
          <p:cNvSpPr/>
          <p:nvPr/>
        </p:nvSpPr>
        <p:spPr>
          <a:xfrm>
            <a:off x="6391656" y="3813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</a:rPr>
              <a:t>Payback Period</a:t>
            </a:r>
            <a:endParaRPr lang="en-US" sz="1100"/>
          </a:p>
        </p:txBody>
      </p:sp>
      <p:sp>
        <p:nvSpPr>
          <p:cNvPr id="36" name="Text 28"/>
          <p:cNvSpPr/>
          <p:nvPr/>
        </p:nvSpPr>
        <p:spPr>
          <a:xfrm>
            <a:off x="6391656" y="4087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C70"/>
                </a:solidFill>
              </a:rPr>
              <a:t>One bad engagement avoided exceeds annual fee</a:t>
            </a:r>
            <a:endParaRPr lang="en-US" sz="8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A7A3C"/>
                </a:solidFill>
              </a:rPr>
              <a:t>WHY THIS SCALES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infrastructure compounds. It doesn't erode.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7432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274320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40817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A7A3C"/>
                </a:solidFill>
              </a:rPr>
              <a:t>01</a:t>
            </a:r>
            <a:endParaRPr lang="en-US" sz="8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86537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" y="16184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is systemized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521208" y="1984248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knowledge encoded once. Delivered infinitely. No per-client consulting required.</a:t>
            </a:r>
            <a:endParaRPr lang="en-US" sz="900"/>
          </a:p>
        </p:txBody>
      </p:sp>
      <p:sp>
        <p:nvSpPr>
          <p:cNvPr id="12" name="Shape 9"/>
          <p:cNvSpPr/>
          <p:nvPr/>
        </p:nvSpPr>
        <p:spPr>
          <a:xfrm>
            <a:off x="3319272" y="1298448"/>
            <a:ext cx="27432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19272" y="1298448"/>
            <a:ext cx="274320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29000" y="140817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A7A3C"/>
                </a:solidFill>
              </a:rPr>
              <a:t>02</a:t>
            </a:r>
            <a:endParaRPr lang="en-US" sz="8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186537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16184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speed, not logic</a:t>
            </a:r>
            <a:endParaRPr lang="en-US" sz="1100"/>
          </a:p>
        </p:txBody>
      </p:sp>
      <p:sp>
        <p:nvSpPr>
          <p:cNvPr id="17" name="Text 13"/>
          <p:cNvSpPr/>
          <p:nvPr/>
        </p:nvSpPr>
        <p:spPr>
          <a:xfrm>
            <a:off x="3429000" y="1984248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generates narratives only. The verdict logic is deterministic — auditable, repeatable, trustworthy.</a:t>
            </a:r>
            <a:endParaRPr lang="en-US" sz="900"/>
          </a:p>
        </p:txBody>
      </p:sp>
      <p:sp>
        <p:nvSpPr>
          <p:cNvPr id="18" name="Shape 14"/>
          <p:cNvSpPr/>
          <p:nvPr/>
        </p:nvSpPr>
        <p:spPr>
          <a:xfrm>
            <a:off x="6227064" y="1298448"/>
            <a:ext cx="27432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27064" y="1298448"/>
            <a:ext cx="274320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336792" y="140817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A7A3C"/>
                </a:solidFill>
              </a:rPr>
              <a:t>03</a:t>
            </a:r>
            <a:endParaRPr lang="en-US" sz="8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186537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36792" y="16184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every industry</a:t>
            </a:r>
            <a:endParaRPr lang="en-US" sz="1100"/>
          </a:p>
        </p:txBody>
      </p:sp>
      <p:sp>
        <p:nvSpPr>
          <p:cNvPr id="23" name="Text 18"/>
          <p:cNvSpPr/>
          <p:nvPr/>
        </p:nvSpPr>
        <p:spPr>
          <a:xfrm>
            <a:off x="6336792" y="1984248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Agencies, consulting, SIs, ITeS. The Workforce Intensity Matrix applies universally across professional services.</a:t>
            </a:r>
            <a:endParaRPr lang="en-US" sz="900"/>
          </a:p>
        </p:txBody>
      </p:sp>
      <p:sp>
        <p:nvSpPr>
          <p:cNvPr id="24" name="Shape 19"/>
          <p:cNvSpPr/>
          <p:nvPr/>
        </p:nvSpPr>
        <p:spPr>
          <a:xfrm>
            <a:off x="411480" y="312724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11480" y="3127248"/>
            <a:ext cx="420624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21208" y="323697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A7A3C"/>
                </a:solidFill>
              </a:rPr>
              <a:t>04</a:t>
            </a:r>
            <a:endParaRPr lang="en-US" sz="8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369417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1208" y="344728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overhead</a:t>
            </a:r>
            <a:endParaRPr lang="en-US" sz="1100"/>
          </a:p>
        </p:txBody>
      </p:sp>
      <p:sp>
        <p:nvSpPr>
          <p:cNvPr id="29" name="Text 23"/>
          <p:cNvSpPr/>
          <p:nvPr/>
        </p:nvSpPr>
        <p:spPr>
          <a:xfrm>
            <a:off x="521208" y="3813048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ERP/PSA connections needed. Assessment runs on structured inputs alone — no IT project, no implementation risk.</a:t>
            </a:r>
            <a:endParaRPr lang="en-US" sz="900"/>
          </a:p>
        </p:txBody>
      </p:sp>
      <p:sp>
        <p:nvSpPr>
          <p:cNvPr id="30" name="Shape 24"/>
          <p:cNvSpPr/>
          <p:nvPr/>
        </p:nvSpPr>
        <p:spPr>
          <a:xfrm>
            <a:off x="4818888" y="312724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  <a:effectLst>
            <a:outerShdw blurRad="101600" dist="25400" dir="8100000" algn="bl" rotWithShape="0">
              <a:srgbClr val="EAF2EC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818888" y="3127248"/>
            <a:ext cx="420624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928616" y="323697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A7A3C"/>
                </a:solidFill>
              </a:rPr>
              <a:t>05</a:t>
            </a:r>
            <a:endParaRPr lang="en-US" sz="80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694176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928616" y="344728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infrastructure, not software</a:t>
            </a:r>
            <a:endParaRPr lang="en-US" sz="1100"/>
          </a:p>
        </p:txBody>
      </p:sp>
      <p:sp>
        <p:nvSpPr>
          <p:cNvPr id="35" name="Text 28"/>
          <p:cNvSpPr/>
          <p:nvPr/>
        </p:nvSpPr>
        <p:spPr>
          <a:xfrm>
            <a:off x="4928616" y="3813048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don't churn from decision infrastructure. Once embedded in the pricing process, switching cost is high.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A7A3C"/>
                </a:solidFill>
              </a:rPr>
              <a:t>FOUNDER ADVANTAGE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can't be reverse-engineered without the experience.</a:t>
            </a:r>
            <a:endParaRPr lang="en-US" sz="210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54864" cy="54864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2618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</a:rPr>
              <a:t>Deep operating experience across large, labor-intensive professional services organisations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411480" y="1920240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" y="1920240"/>
            <a:ext cx="54864" cy="54864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07568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920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30"/>
                </a:solidFill>
              </a:rPr>
              <a:t>First-hand understanding of how pricing decisions are made at the senior level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1480" y="2578608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11480" y="2578608"/>
            <a:ext cx="54864" cy="54864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73405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5786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30"/>
                </a:solidFill>
              </a:rPr>
              <a:t>Judgement that’s encoded and repeatable – others solve via intuition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11480" y="3236976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11480" y="3236976"/>
            <a:ext cx="54864" cy="54864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3924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32369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</a:rPr>
              <a:t>Built the world's first Workforce Intensity Matrix — the proprietary framework powering the engine</a:t>
            </a:r>
            <a:endParaRPr lang="en-US" sz="1000"/>
          </a:p>
        </p:txBody>
      </p:sp>
      <p:sp>
        <p:nvSpPr>
          <p:cNvPr id="22" name="Shape 16"/>
          <p:cNvSpPr/>
          <p:nvPr/>
        </p:nvSpPr>
        <p:spPr>
          <a:xfrm>
            <a:off x="411480" y="3895344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11480" y="3895344"/>
            <a:ext cx="54864" cy="54864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5079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895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C3E30"/>
                </a:solidFill>
              </a:rPr>
              <a:t>Category creator advantage: defined the problem space before the market named it</a:t>
            </a:r>
            <a:endParaRPr lang="en-US" sz="1000"/>
          </a:p>
        </p:txBody>
      </p:sp>
      <p:sp>
        <p:nvSpPr>
          <p:cNvPr id="26" name="Shape 19"/>
          <p:cNvSpPr/>
          <p:nvPr/>
        </p:nvSpPr>
        <p:spPr>
          <a:xfrm>
            <a:off x="6035040" y="1939983"/>
            <a:ext cx="2743200" cy="2011680"/>
          </a:xfrm>
          <a:prstGeom prst="rect">
            <a:avLst/>
          </a:prstGeom>
          <a:solidFill>
            <a:srgbClr val="EAF2EC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035040" y="1856232"/>
            <a:ext cx="2743200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6144768" y="192024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2C3E30"/>
                </a:solidFill>
              </a:rPr>
              <a:t>MarginMix helps professional services firms price work with confidence by systematising margin risk decisions before delivery begins — where mistakes are most expensive.</a:t>
            </a:r>
            <a:endParaRPr lang="en-US" sz="1050"/>
          </a:p>
        </p:txBody>
      </p:sp>
      <p:sp>
        <p:nvSpPr>
          <p:cNvPr id="30" name="Shape 23"/>
          <p:cNvSpPr/>
          <p:nvPr/>
        </p:nvSpPr>
        <p:spPr>
          <a:xfrm>
            <a:off x="411480" y="4663440"/>
            <a:ext cx="8321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502920" y="4663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70"/>
                </a:solidFill>
              </a:rPr>
              <a:t>WPP · Publicis · Dentsu · Ogilvy — Lived Experience building the judgment that MarginMix encodes.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category-defining product at the right moment.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pre-commitment margin risk window is open, unoccupied, and structurally important to every professional services firm.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27000" dist="38100" dir="8100000" algn="bl" rotWithShape="0">
              <a:srgbClr val="EAF2EC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743200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1208" y="14813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– 6 MONTHS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" y="178308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300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1208" y="23774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paying assessments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208" y="26517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$89 × 300 = $26.7K MRR run-rate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9272" y="138988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27000" dist="38100" dir="8100000" algn="bl" rotWithShape="0">
              <a:srgbClr val="EAF2EC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19272" y="1389888"/>
            <a:ext cx="274320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29000" y="14813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>
                <a:ln>
                  <a:noFill/>
                </a:ln>
                <a:solidFill>
                  <a:srgbClr val="2D6A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– 18 MONTHS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29000" y="178308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29000" y="23774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subscription firms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29000" y="26517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$62.5K MRR · $750K ARR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27064" y="138988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27000" dist="38100" dir="8100000" algn="bl" rotWithShape="0">
              <a:srgbClr val="EAF2EC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27064" y="1389888"/>
            <a:ext cx="2743200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6792" y="14813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 – 36 MONTHS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6792" y="178308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500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36792" y="23774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subscription firms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36792" y="26517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$625K MRR · $7.5M ARR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404872" y="3389376"/>
            <a:ext cx="393192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520440" y="3492829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MARGINMIX WINS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601199" y="3672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First mover. Proprietary framework. Deterministic engine. No integration cost. High gross margin. Founder with operating insight the market hasn't yet systemised.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11480" y="49560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marginmix.ai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72000" y="495604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Investor Presentation · 2026 · Confidential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TRACTION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motion. 2-month story (Jan –Feb  2026)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product. Real visitors. Industry validation — before the raise.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833932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27000" dist="25400" dir="8100000" algn="bl" rotWithShape="0">
              <a:srgbClr val="EAF2EC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64008" cy="7498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15361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30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LIVE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marginmix.ai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157276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 functional MVP — assessment engine, paywall, PDF output. Zero-friction self-serve.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27000" dist="38100" dir="8100000" algn="bl" rotWithShape="0">
              <a:srgbClr val="EAF2EC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2377440"/>
            <a:ext cx="265176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487168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76072" y="24505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VISITORS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6072" y="27249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400–500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76072" y="3520440"/>
            <a:ext cx="2322576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76072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Organic traction from US, India &amp; SEA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no paid acquisition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27832" y="237744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27000" dist="38100" dir="8100000" algn="bl" rotWithShape="0">
              <a:srgbClr val="EAF2EC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27832" y="2377440"/>
            <a:ext cx="2651760" cy="5486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2487168"/>
            <a:ext cx="347472" cy="3474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392424" y="24505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>
                <a:ln>
                  <a:noFill/>
                </a:ln>
                <a:solidFill>
                  <a:srgbClr val="1A5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WEEK-ON-WEEK GROWTH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3392424" y="27249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3392424" y="3520440"/>
            <a:ext cx="2322576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392424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Consistent organic growth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across target geographies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6044184" y="2377440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  <a:effectLst>
            <a:outerShdw blurRad="127000" dist="38100" dir="8100000" algn="bl" rotWithShape="0">
              <a:srgbClr val="EAF2EC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6044184" y="2377440"/>
            <a:ext cx="265176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4" y="2487168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08776" y="24505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VALIDATION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6208776" y="27249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WPP · Dentsu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beyond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6208776" y="3520440"/>
            <a:ext cx="2322576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6208776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Senior leaders at global holding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companies have seen and endorsed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411480" y="4800600"/>
            <a:ext cx="8339328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548640" y="4800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Traction built without paid marketing. The signal is organic — and it's coming from an ecosystem that </a:t>
            </a:r>
            <a:r>
              <a:rPr lang="en-US" sz="900" i="1" dirty="0">
                <a:solidFill>
                  <a:srgbClr val="1A7A3C"/>
                </a:solidFill>
                <a:latin typeface="Calibri" panose="020F0502020204030204"/>
              </a:rPr>
              <a:t>understands the risk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AF2EC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ASK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Pre-Seed </a:t>
            </a:r>
            <a:r>
              <a:rPr lang="en-US" sz="28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 · Simple Agreement for Future Equity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4041648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4D6"/>
            </a:solidFill>
            <a:prstDash val="solid"/>
          </a:ln>
          <a:effectLst>
            <a:outerShdw blurRad="203200" dist="50800" dir="8100000" algn="bl" rotWithShape="0">
              <a:srgbClr val="EAF2EC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4041648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TICKET -MINIMUM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40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3090672"/>
            <a:ext cx="3493008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Simple. No interest. No maturity date.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4041648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4D6"/>
            </a:solidFill>
            <a:prstDash val="solid"/>
          </a:ln>
          <a:effectLst>
            <a:outerShdw blurRad="203200" dist="50800" dir="8100000" algn="bl" rotWithShape="0">
              <a:srgbClr val="EAF2EC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09160" y="1463040"/>
            <a:ext cx="4041648" cy="6400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 dirty="0">
                <a:ln>
                  <a:noFill/>
                </a:ln>
                <a:solidFill>
                  <a:srgbClr val="1A5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VALUATION CAP- MINIMUM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40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POST-MONEY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83480" y="3090672"/>
            <a:ext cx="3493008" cy="914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00600" y="3127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Converts at next priced round.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" y="3822192"/>
            <a:ext cx="8339328" cy="1024128"/>
          </a:xfrm>
          <a:prstGeom prst="rect">
            <a:avLst/>
          </a:prstGeom>
          <a:solidFill>
            <a:srgbClr val="EAF2EC"/>
          </a:solidFill>
          <a:ln w="635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1480" y="3822192"/>
            <a:ext cx="64008" cy="102412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4360" y="38679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30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THIS CAPITAL UNLOCKS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1A5C3A"/>
                </a:solidFill>
                <a:latin typeface="Calibri" panose="020F0502020204030204"/>
              </a:rPr>
              <a:t>45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5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" y="4407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&amp; Engineering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679192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5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679192" y="4407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GTM &amp; Founder-led Sales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64024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1A5C3A"/>
                </a:solidFill>
                <a:latin typeface="Calibri" panose="020F0502020204030204"/>
              </a:rPr>
              <a:t>25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5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64024" y="4407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2C3E3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Infrastructure</a:t>
            </a:r>
            <a:r>
              <a:rPr lang="en-US" sz="850" dirty="0">
                <a:solidFill>
                  <a:srgbClr val="2C3E30"/>
                </a:solidFill>
                <a:latin typeface="Calibri" panose="020F0502020204030204"/>
              </a:rPr>
              <a:t> &amp; Ops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23739A53-C99B-CFF8-5FF0-010E3B9ACB26}"/>
              </a:ext>
            </a:extLst>
          </p:cNvPr>
          <p:cNvSpPr/>
          <p:nvPr/>
        </p:nvSpPr>
        <p:spPr>
          <a:xfrm>
            <a:off x="548640" y="48646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6B7C70"/>
                </a:solidFill>
                <a:latin typeface="Calibri" pitchFamily="34" charset="0"/>
                <a:cs typeface="Calibri" pitchFamily="34" charset="-120"/>
              </a:rPr>
              <a:t>Current Cap Table – 100% Equity - Founder</a:t>
            </a:r>
            <a:endParaRPr kumimoji="0" lang="en-US" sz="11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73152" cy="228600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pre-commitment margin risk window is open for all commercial decisions in the services industry, followed by assessing commercial viability in an AI augmented world.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2376" y="2880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We'd like to own it.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3232" y="3310128"/>
            <a:ext cx="4114800" cy="36576"/>
          </a:xfrm>
          <a:prstGeom prst="rect">
            <a:avLst/>
          </a:prstGeom>
          <a:solidFill>
            <a:srgbClr val="D0E4D6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34381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Siddhartha Dasgupta (Sid)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3232" y="388391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7A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Founder, MarginMix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1A7A3C"/>
                </a:solidFill>
                <a:latin typeface="Calibri" panose="020F0502020204030204"/>
                <a:hlinkClick r:id="rId3"/>
              </a:rPr>
              <a:t>sid@marginmix.ai</a:t>
            </a:r>
            <a:endParaRPr lang="en-US" sz="1000">
              <a:solidFill>
                <a:srgbClr val="1A7A3C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413994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marginmix.ai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49560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7C7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Investor Presentation · 2026 · Confidential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EAF2EC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EAF2EC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2039</Words>
  <Application>Microsoft Macintosh PowerPoint</Application>
  <PresentationFormat>On-screen Show (16:9)</PresentationFormat>
  <Paragraphs>331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MarginMix Investor Presentation 2026</dc:title>
  <dc:subject>PptxGenJS Presentation</dc:subject>
  <dc:creator>PptxGenJS</dc:creator>
  <cp:lastModifiedBy>Siddhartha Dasgupta</cp:lastModifiedBy>
  <cp:revision>25</cp:revision>
  <dcterms:created xsi:type="dcterms:W3CDTF">2026-03-10T05:10:56Z</dcterms:created>
  <dcterms:modified xsi:type="dcterms:W3CDTF">2026-06-08T11:07:31Z</dcterms:modified>
</cp:coreProperties>
</file>